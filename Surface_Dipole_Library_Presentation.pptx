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88952" cy="237744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Surface Dipole Library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7EC8E3"/>
                </a:solidFill>
              </a:rPr>
              <a:t>A fast pre-screening tool for thin-film interface interactions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514600"/>
            <a:ext cx="11430000" cy="36576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CCE5FF"/>
                </a:solidFill>
              </a:rPr>
              <a:t>Calculates dipole moments &amp; dipole–dipole interaction energies
between surface atoms of a substrate and a thin film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99AA"/>
                </a:solidFill>
              </a:rPr>
              <a:t>Shubham Gangwar   |   Department Project   | 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126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00878A"/>
                </a:solidFill>
              </a:rPr>
              <a:t>v 1.0.0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Presentation 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54864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731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878A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143000"/>
            <a:ext cx="10058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The Problem — Why this library was needed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27632"/>
            <a:ext cx="731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878A"/>
                </a:solidFill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27632"/>
            <a:ext cx="10058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Library Architecture — How it was built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12264"/>
            <a:ext cx="731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878A"/>
                </a:solidFill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112264"/>
            <a:ext cx="10058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What It Calculates — Key quantities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96896"/>
            <a:ext cx="731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878A"/>
                </a:solidFill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596896"/>
            <a:ext cx="10058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Input Requirements — What you need to provide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81528"/>
            <a:ext cx="731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878A"/>
                </a:solidFill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081528"/>
            <a:ext cx="10058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How to Get the Inputs — Coordinates &amp; Charges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566160"/>
            <a:ext cx="731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878A"/>
                </a:solidFill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566160"/>
            <a:ext cx="10058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Formulas &amp; Calculation Flow — Step by step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050792"/>
            <a:ext cx="731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878A"/>
                </a:solidFill>
              </a:rP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50792"/>
            <a:ext cx="10058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Output &amp; Results — What the library returns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535424"/>
            <a:ext cx="731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878A"/>
                </a:solidFill>
              </a:rP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535424"/>
            <a:ext cx="10058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Case Study — Borosilicate Glass vs. TiO₂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020056"/>
            <a:ext cx="731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878A"/>
                </a:solidFill>
              </a:rPr>
              <a:t>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020056"/>
            <a:ext cx="10058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Actionable Findings — What the results mean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504688"/>
            <a:ext cx="731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878A"/>
                </a:solidFill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504688"/>
            <a:ext cx="10058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Conclusion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E5FF"/>
                </a:solidFill>
              </a:rPr>
              <a:t>Why was this library needed?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394960" cy="5303520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74C3C"/>
                </a:solidFill>
              </a:rPr>
              <a:t>Without This Library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74C3C"/>
                </a:solidFill>
              </a:rPr>
              <a:t>✗  DFT calculation per config: 6–8 hours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74C3C"/>
                </a:solidFill>
              </a:rPr>
              <a:t>✗  Screening 132 pairs = 3–5 days on HPC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74C3C"/>
                </a:solidFill>
              </a:rPr>
              <a:t>✗  No guidance on which atoms to focus 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461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74C3C"/>
                </a:solidFill>
              </a:rPr>
              <a:t>✗  Chemical intuition often wrong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947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74C3C"/>
                </a:solidFill>
              </a:rPr>
              <a:t>✗  Expensive compute budget wasted on
non-dominant pairs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005840"/>
            <a:ext cx="5669280" cy="5303520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0972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ECC71"/>
                </a:solidFill>
              </a:rPr>
              <a:t>With This Library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6002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CC71"/>
                </a:solidFill>
              </a:rPr>
              <a:t>✓  All 132 pairs evaluated: &lt; 1 second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1488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CC71"/>
                </a:solidFill>
              </a:rPr>
              <a:t>✓  Dominant pair identified instantly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6974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CC71"/>
                </a:solidFill>
              </a:rPr>
              <a:t>✓  Atomic-level resolution — exact sites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2461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CC71"/>
                </a:solidFill>
              </a:rPr>
              <a:t>✓  Physically grounded (force-field charges)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7947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CC71"/>
                </a:solidFill>
              </a:rPr>
              <a:t>✓  Reduces DFT workload by 90–95%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2918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6B35"/>
                </a:solidFill>
              </a:rPr>
              <a:t>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Library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E5FF"/>
                </a:solidFill>
              </a:rPr>
              <a:t>7-module Python package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1554480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430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78A"/>
                </a:solidFill>
              </a:rPr>
              <a:t>atoms.py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5448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Atom dataclass
with labelling helpers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1097280"/>
            <a:ext cx="1554480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48839" y="11430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78A"/>
                </a:solidFill>
              </a:rPr>
              <a:t>dipole.py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39" y="155448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calculate_dipole()
atomic_local_dipole()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1097280"/>
            <a:ext cx="1554480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11430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78A"/>
                </a:solidFill>
              </a:rPr>
              <a:t>geometry.py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155448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distance()
pairwise_distances()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77840" y="1097280"/>
            <a:ext cx="1554480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23559" y="11430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78A"/>
                </a:solidFill>
              </a:rPr>
              <a:t>interaction.py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59" y="155448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dipole_dipole_energy()
SI-derived, eV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1097280"/>
            <a:ext cx="1554480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0920" y="11430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78A"/>
                </a:solidFill>
              </a:rPr>
              <a:t>ranking.py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155448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rank_interactions()
print_summary()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1097280"/>
            <a:ext cx="1554480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11430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78A"/>
                </a:solidFill>
              </a:rPr>
              <a:t>io.py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155448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XYZ / CIF / POSCAR
ASE / Pymatgen readers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789920" y="1097280"/>
            <a:ext cx="1554480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5640" y="11430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78A"/>
                </a:solidFill>
              </a:rPr>
              <a:t>main.py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35640" y="155448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analyze_surface_interactions()
high-level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25603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878A"/>
                </a:solidFill>
              </a:rPr>
              <a:t>User Input  →  io.py  →  atoms.py  →  dipole.py  →  geometry.py  →  interaction.py  →  ranking.py  →  main.py  →  Results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063240"/>
            <a:ext cx="11430000" cy="502920"/>
          </a:xfrm>
          <a:prstGeom prst="rect">
            <a:avLst/>
          </a:prstGeom>
          <a:solidFill>
            <a:srgbClr val="0D4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10896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__init__.py  —  re-exports everything via  from surface_dipole_library import ...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703320"/>
            <a:ext cx="5486400" cy="10058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749039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6E22E"/>
                </a:solidFill>
              </a:rPr>
              <a:t># Install
pip install surface-dipole-lib
# Import
from surface_dipole_library import analyze_surface_interactions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703320"/>
            <a:ext cx="5486400" cy="10058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749039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Requirements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6908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  Python ≥ 3.8     numpy     pandas
  ase  (optional, for CIF/POSCAR)
  pymatgen  (optional, for oxidation states)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4892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878A"/>
                </a:solidFill>
              </a:rPr>
              <a:t>pyproject.toml included — pip-installable package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the Library Calculates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E5FF"/>
                </a:solidFill>
              </a:rPr>
              <a:t>Three core quantities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4114800" cy="53035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878A"/>
                </a:solidFill>
              </a:rPr>
              <a:t>1. Group Dipole Moment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11430000" cy="1828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37490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μ = Σᵢ qᵢ rᵢ
A single vector summarising how polar
each surface is overall.
Output: (μx, μy, μz) in e·Å and Debye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005840"/>
            <a:ext cx="4114800" cy="5303520"/>
          </a:xfrm>
          <a:prstGeom prst="rect">
            <a:avLst/>
          </a:prstGeom>
          <a:solidFill>
            <a:srgbClr val="0D4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09728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878A"/>
                </a:solidFill>
              </a:rPr>
              <a:t>2. Local Atomic Dipole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828800"/>
            <a:ext cx="11430000" cy="1828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828800"/>
            <a:ext cx="37490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μᵢ = qᵢ (rᵢ − r̄)
The dipole contribution of each individual
atom relative to the group centroid.
Makes calculation origin-independent.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1005840"/>
            <a:ext cx="4114800" cy="5303520"/>
          </a:xfrm>
          <a:prstGeom prst="rect">
            <a:avLst/>
          </a:prstGeom>
          <a:solidFill>
            <a:srgbClr val="004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9" y="109728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878A"/>
                </a:solidFill>
              </a:rPr>
              <a:t>3. Dipole–Dipole
Interaction Energy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828800"/>
            <a:ext cx="11430000" cy="1828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9" y="1828800"/>
            <a:ext cx="37490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U = 14.3996 × [μ₁·μ₂/r³ − 3(μ₁·r)(μ₂·r)/r⁵]
Computed for every substrate–film atom pair.
Ranked from most attractive to most repulsive.
Output: Energy in eV, labelled attractive/repulsive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Input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E5FF"/>
                </a:solidFill>
              </a:rPr>
              <a:t>What you must provide per atom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657600" cy="41148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5156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878A"/>
                </a:solidFill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Element Symbol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0312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5FF"/>
                </a:solidFill>
              </a:rPr>
              <a:t>e.g.  "Si",  "Ti",  "O",  "Al",  "Zn"
Identifies which atom it is.
Used for labelling and output tables.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005840"/>
            <a:ext cx="3657600" cy="4114800"/>
          </a:xfrm>
          <a:prstGeom prst="rect">
            <a:avLst/>
          </a:prstGeom>
          <a:solidFill>
            <a:srgbClr val="0D4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05156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878A"/>
                </a:solidFill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5544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3D Position  (Å)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10312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5FF"/>
                </a:solidFill>
              </a:rPr>
              <a:t>e.g.  [0.00, 0.00, 1.60]
Cartesian coordinates in Ångströms.
Both surfaces must share the same
coordinate system (same z-axis).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005840"/>
            <a:ext cx="3657600" cy="4114800"/>
          </a:xfrm>
          <a:prstGeom prst="rect">
            <a:avLst/>
          </a:prstGeom>
          <a:solidFill>
            <a:srgbClr val="004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05156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878A"/>
                </a:solidFill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5544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Partial Charge  (e)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10312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5FF"/>
                </a:solidFill>
              </a:rPr>
              <a:t>e.g.  +0.310  for Si,  −0.290  for O_NBO
Fraction of electron charge on the atom.
NOT the formal oxidation state.
Source: force field or DFT Bader analysis.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257800"/>
            <a:ext cx="11430000" cy="13258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321808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6E22E"/>
                </a:solidFill>
              </a:rPr>
              <a:t>substrate_atoms = [
    {"element": "Si",  "charge": +0.310, "position": [0.00, 0.00, 0.00], "label": "Si1_sub"},
    {"element": "O",   "charge": -0.290, "position": [0.00, 0.00, 1.60], "label": "O_NBO1_sub"},
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How to Get Inputs — 3D Coordinates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E5FF"/>
                </a:solidFill>
              </a:rPr>
              <a:t>Three routes from fastest to most accurate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657600" cy="42062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3657600" cy="411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02412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Route A  — Download + VESTA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508760"/>
            <a:ext cx="3474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1. Go to materialsproject.org
2. Search material → Download CIF
3. Open in VESTA → set Miller index
4. Add vacuum layer → Export POSCAR/XYZ
5. Load into library
Time: ~10 minutes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029200"/>
            <a:ext cx="3657600" cy="411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504748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Fastest
Good for screening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005840"/>
            <a:ext cx="3657600" cy="42062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005840"/>
            <a:ext cx="3657600" cy="4114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8" y="102412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Route B  — ASE Slab Builder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1508760"/>
            <a:ext cx="3474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from ase.build import surface, bulk, add_vacuum
tio2 = bulk('TiO2', crystalstructure='rutile',
            a=4.594, c=2.958)
slab = surface(tio2, (1,1,0), layers=4)
add_vacuum(slab, 15.0)
Time: ~20 minutes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5029200"/>
            <a:ext cx="3657600" cy="4114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07408" y="504748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Reproducible
Scriptable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005840"/>
            <a:ext cx="3657600" cy="42062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005840"/>
            <a:ext cx="3657600" cy="411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7" y="102412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Route C  — DFT Relaxation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7" y="1508760"/>
            <a:ext cx="3474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1. Build initial slab (Route A or B)
2. Run VASP / Quantum ESPRESSO
3. Use final CONTCAR / output.xyz
   (true equilibrium positions)
Time: hours–days on HPC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5029200"/>
            <a:ext cx="3657600" cy="411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7" y="504748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Most accurate
For publications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577840"/>
            <a:ext cx="11430000" cy="502920"/>
          </a:xfrm>
          <a:prstGeom prst="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62356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2B55"/>
                </a:solidFill>
              </a:rPr>
              <a:t>Tip — Keep only surface layer atoms:  surface_atoms = [a for a in all_atoms if a.position[2] &gt;= z_max − 3.0]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How to Get Inputs — Partial Charges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E5FF"/>
                </a:solidFill>
              </a:rPr>
              <a:t>Charge ≠ Oxidation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11430000" cy="109728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Why not use formal oxidation states?  Si is +4 formally, but using +4 makes forces 167× too strong — simulations collapse.
Partial charges reflect the real ~50% covalent nature of Si–O bonds.  Si = +0.310 e because it retains 3.69 of 4 valence electrons.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40280"/>
            <a:ext cx="3657600" cy="42062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240280"/>
            <a:ext cx="3657600" cy="502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2258568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Published Force Fields
(Fastest, Good accuracy)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834640"/>
            <a:ext cx="347472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ClayFF  →  SiO₂, glass
  Si: +0.310,  O_BO: −0.155,  O_NBO: −0.290
Matsui–Akaogi  →  TiO₂
  Ti5c: +0.580,  O: −0.290
INTERFACE FF  →  Al₂O₃
  Al: +0.480,  O: −0.320
Look up: '[material] partial charge force field'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240280"/>
            <a:ext cx="3657600" cy="42062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2240280"/>
            <a:ext cx="3657600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8" y="2258568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DFT Bader Analysis
(Most accurate)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2834640"/>
            <a:ext cx="347472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1. Run VASP with LAECHG=.TRUE.
2. bader CHGCAR -ref AECCAR0 -ref AECCAR2
3. Read ACF.dat  (column 5 = Bader charge)
Partial charge = valence electrons − Bader charge
Quantum ESPRESSO: projwfc.x → Löwdin charges
CP2K: MULLIKEN_POP keyword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240280"/>
            <a:ext cx="3657600" cy="42062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2240280"/>
            <a:ext cx="3657600" cy="50292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7" y="2258568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Pymatgen BVAnalyzer
(Rough, for quick screening)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2834640"/>
            <a:ext cx="347472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from pymatgen.core import Structure
from pymatgen.analysis.bond_valence
    import BVAnalyzer
s = Structure.from_file('Al2O3.cif')
bv = BVAnalyzer()
s = bv.get_oxi_state_decorated_structure(s)
Gives integer oxidation states (+3, −2)
Not partial — use as last resort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6492240"/>
            <a:ext cx="11430000" cy="22860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Formulas &amp; Calculation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E5FF"/>
                </a:solidFill>
              </a:rPr>
              <a:t>Step-by-step inside the library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103120" cy="53949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78A"/>
                </a:solidFill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Group Dipole Moment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20240"/>
            <a:ext cx="1920240" cy="822960"/>
          </a:xfrm>
          <a:prstGeom prst="rect">
            <a:avLst/>
          </a:prstGeom>
          <a:solidFill>
            <a:srgbClr val="05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938528"/>
            <a:ext cx="18288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78A"/>
                </a:solidFill>
              </a:rPr>
              <a:t>μ = Σᵢ qᵢ rᵢ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34640"/>
            <a:ext cx="19202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5FF"/>
                </a:solidFill>
              </a:rPr>
              <a:t>Sum of (charge × position) over all atoms.
Outputs one vector per surface.
Used as diagnostic — tells you if surfaces are polar.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39" y="1005840"/>
            <a:ext cx="2103120" cy="5394960"/>
          </a:xfrm>
          <a:prstGeom prst="rect">
            <a:avLst/>
          </a:prstGeom>
          <a:solidFill>
            <a:srgbClr val="0D4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79" y="10515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78A"/>
                </a:solidFill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79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Geometric Centroid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79" y="1920240"/>
            <a:ext cx="1920240" cy="822960"/>
          </a:xfrm>
          <a:prstGeom prst="rect">
            <a:avLst/>
          </a:prstGeom>
          <a:solidFill>
            <a:srgbClr val="05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199" y="1938528"/>
            <a:ext cx="18288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78A"/>
                </a:solidFill>
              </a:rPr>
              <a:t>r̄ = (1/N) Σᵢ rᵢ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79" y="2834640"/>
            <a:ext cx="19202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5FF"/>
                </a:solidFill>
              </a:rPr>
              <a:t>Unweighted mean position of all atoms.
Used as origin for local dipoles.
Makes all energies origin-independent.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59" y="1005840"/>
            <a:ext cx="2103120" cy="5394960"/>
          </a:xfrm>
          <a:prstGeom prst="rect">
            <a:avLst/>
          </a:prstGeom>
          <a:solidFill>
            <a:srgbClr val="00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199" y="10515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78A"/>
                </a:solidFill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199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Local Atomic Dipole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199" y="1920240"/>
            <a:ext cx="1920240" cy="822960"/>
          </a:xfrm>
          <a:prstGeom prst="rect">
            <a:avLst/>
          </a:prstGeom>
          <a:solidFill>
            <a:srgbClr val="05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1938528"/>
            <a:ext cx="18288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78A"/>
                </a:solidFill>
              </a:rPr>
              <a:t>μᵢ = qᵢ (rᵢ − r̄)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199" y="2834640"/>
            <a:ext cx="19202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5FF"/>
                </a:solidFill>
              </a:rPr>
              <a:t>Per-atom dipole relative to centroid.
Captures each atom's individual contribution.
Larger charge + farther from centroid = stronger dipole.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9479" y="1005840"/>
            <a:ext cx="2103120" cy="5394960"/>
          </a:xfrm>
          <a:prstGeom prst="rect">
            <a:avLst/>
          </a:prstGeom>
          <a:solidFill>
            <a:srgbClr val="004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60919" y="10515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78A"/>
                </a:solidFill>
              </a:rPr>
              <a:t>STEP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19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Pairwise Interaction Energy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60919" y="1920240"/>
            <a:ext cx="1920240" cy="822960"/>
          </a:xfrm>
          <a:prstGeom prst="rect">
            <a:avLst/>
          </a:prstGeom>
          <a:solidFill>
            <a:srgbClr val="05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1938528"/>
            <a:ext cx="18288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78A"/>
                </a:solidFill>
              </a:rPr>
              <a:t>U = 14.3996 × [μ₁·μ₂/r³
    − 3(μ₁·r̂)(μ₂·r̂)/r³]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19" y="2834640"/>
            <a:ext cx="19202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5FF"/>
                </a:solidFill>
              </a:rPr>
              <a:t>Applied to all N×M substrate–film pairs.
14.3996 = Coulomb constant in eV·Å/e².
U &lt; 0 → attractive,  U &gt; 0 → repulsive.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0" y="1005840"/>
            <a:ext cx="2103120" cy="5394960"/>
          </a:xfrm>
          <a:prstGeom prst="rect">
            <a:avLst/>
          </a:prstGeom>
          <a:solidFill>
            <a:srgbClr val="003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0" y="10515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78A"/>
                </a:solidFill>
              </a:rPr>
              <a:t>STEP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Rank &amp; Filter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92640" y="1920240"/>
            <a:ext cx="1920240" cy="822960"/>
          </a:xfrm>
          <a:prstGeom prst="rect">
            <a:avLst/>
          </a:prstGeom>
          <a:solidFill>
            <a:srgbClr val="05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38360" y="1938528"/>
            <a:ext cx="18288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78A"/>
                </a:solidFill>
              </a:rPr>
              <a:t>Sort by U (ascending)
Apply distance cutoff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2834640"/>
            <a:ext cx="19202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5FF"/>
                </a:solidFill>
              </a:rPr>
              <a:t>132 pairs sorted from most negative to most positive.
Cutoff removes distant pairs (default 8 Å).
Outputs ranked table with labels and types.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Deep Dive — Why Si = +0.310 e and Not +4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E5FF"/>
                </a:solidFill>
              </a:rPr>
              <a:t>Partial charge vs formal oxidation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669280" cy="53949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2B55"/>
                </a:solidFill>
              </a:rPr>
              <a:t>The Si–O Bond Is ~50% Covalent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303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Formal oxidation state:  Si⁴⁺  →  +4
This assumes 4 electrons fully transferred to O.
Reality: Si–O is partly covalent. Electrons are
shared, not transferred. Si retains 3.69 of 4
valence electrons → net charge = +0.310 e only.
Using +4 would make forces 167× too strong.
The 0.310 value comes from ClayFF force field
(Cygan et al., J. Phys. Chem. B, 2004):
  → Quantum calc on SiO₄(OH)₄ cluster
  → ESP fitting to electron density
  → Charge balanced across 4 bonds:
       Si donates 0.31 e total
       Each BO gets 0.31/4 × 2 = 0.155 e
       → O_BO charge = −0.155 e  ✓
       NBO gets more → −0.290 e  ✓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005840"/>
            <a:ext cx="5486400" cy="24688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0515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78A"/>
                </a:solidFill>
              </a:rPr>
              <a:t>Electronegativity Drives the Charge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Bond     ΔEN    Partial charge on metal
──────────────────────────────────────
Ti–O     1.90    Ti = +0.580 e  (highest)
Si–O     1.54    Si = +0.310 e
B–O      1.40    B  = +0.270 e
H–O      1.24    H  = +0.175 e  (lowest)
Larger ΔEN → more electrons pulled away
→ higher positive partial charge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3611880"/>
            <a:ext cx="5486400" cy="27889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657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Charge Balance Check (SiO₂ unit cell)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11480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Si charge:  +0.310 e × 1 = +0.310 e
O  charge:  −0.155 e × 2 = −0.310 e
─────────────────────────────────────
Net charge:             =   0.000 e  ✓
The unit cell is electrically neutral.
Charges donated by Si exactly equal
charges received by the two oxygens.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Case Study — Borosilicate Glass vs. TiO₂ Thin Film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E5FF"/>
                </a:solidFill>
              </a:rPr>
              <a:t>Real-world interface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120640" cy="53949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78A"/>
                </a:solidFill>
              </a:rPr>
              <a:t>Interface Geometry  (z-axis view)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z (Å)
 5.8 ─  H_OH1_film   (+0.18 e)
 5.2 ─  O_OH1_film   (−0.20 e)
 4.5 ─  Ti6c1_film   (+0.48 e)
 4.2 ─  O_br_film    (−0.29 e)
 3.8 ─  O_ip_film    (−0.26 e)
 3.5 ─  Ti5c_film  ★ (+0.58 e)  ←── primary
                                         anchor
  ══════ interface gap ≈ 1.9 Å ══════
 1.6 ─  O_NBO_sub  ★ (−0.29 e)  ←── primary
                                         docking
 0.8 ─  O_BO_sub     (−0.155 e)
 0.0 ─  Si_sub / B   (+0.31 e)
  ↑ Film dipole (+z)   ↓ Glass dipole (−z)
  Anti-parallel → macroscopic attraction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1005840"/>
            <a:ext cx="6126480" cy="25603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10515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Glass Substrate — 12 atoms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1508760"/>
            <a:ext cx="5760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Si × 3    +0.310 e    Tetrahedral centres
O_BO × 4  −0.155 e   Bridging oxygens
O_NBO × 3 −0.290 e   Non-bridging (surface)
B × 1     +0.270 e   Borosilicate network
H × 1     +0.175 e   Silanol –OH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3703320"/>
            <a:ext cx="6126480" cy="24688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3749039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TiO₂ Film — 11 atoms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160520"/>
            <a:ext cx="5760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Ti5c × 3  +0.580 e   5-fold Ti (reactive)
Ti6c × 1  +0.480 e   6-fold Ti (bulk-like)
O_br × 3  −0.290 e   Bridging O rows
O_ip × 2  −0.260 e   In-plane O
O_OH × 1  −0.200 e   Hydroxyl O
H_OH × 1  +0.180 e   Hydroxyl 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6263640"/>
            <a:ext cx="6126480" cy="41148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0" y="6291072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Total pairs to evaluate:  12 × 11 = 132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Case Study Results — Dipole Moments &amp; Unit Tests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486400" cy="53949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</a:rPr>
              <a:t>Unit Test Results — All 6 Passed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303520" cy="685800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</a:rPr>
              <a:t>test_dipole_moments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0195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878A"/>
                </a:solidFill>
              </a:rPr>
              <a:t>Glass: 7.748 D  |  TiO₂: 13.463 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13432"/>
            <a:ext cx="5303520" cy="685800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59151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359151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</a:rPr>
              <a:t>test_interaction_table_structure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660903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878A"/>
                </a:solidFill>
              </a:rPr>
              <a:t>132 pairs generated correctly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72384"/>
            <a:ext cx="5303520" cy="685800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118103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118103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</a:rPr>
              <a:t>test_best_interaction_attractive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419856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878A"/>
                </a:solidFill>
              </a:rPr>
              <a:t>Best = O_NBO1 – Ti5c1 at −2.224 eV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831335"/>
            <a:ext cx="5303520" cy="685800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877055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877055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</a:rPr>
              <a:t>test_distance_calculation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178807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878A"/>
                </a:solidFill>
              </a:rPr>
              <a:t>d = 1.9000 Å verified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590288"/>
            <a:ext cx="5303520" cy="685800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636007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636007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</a:rPr>
              <a:t>test_cutoff_filter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937759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878A"/>
                </a:solidFill>
              </a:rPr>
              <a:t>132 → 65 pairs at 4.5 Å cutoff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349240"/>
            <a:ext cx="5303520" cy="685800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394959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394959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</a:rPr>
              <a:t>test_energy_symmetry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569671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878A"/>
                </a:solidFill>
              </a:rPr>
              <a:t>U(A→B) = U(B→A) confirmed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1005840"/>
            <a:ext cx="5760720" cy="2560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10515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78A"/>
                </a:solidFill>
              </a:rPr>
              <a:t>Glass Dipole Moment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150876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μx = −0.6184 e·Å
μy = −0.1971 e·Å
μz = −1.4768 e·Å   ← dominant
|μ| = 1.6131 e·Å  =  7.748 Debye
Net Q = −0.115 e
Dipole points DOWN (−z)
Negative charge at top of glass (NBO layer)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3703320"/>
            <a:ext cx="5760720" cy="2560320"/>
          </a:xfrm>
          <a:prstGeom prst="rect">
            <a:avLst/>
          </a:prstGeom>
          <a:solidFill>
            <a:srgbClr val="0D4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3749039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78A"/>
                </a:solidFill>
              </a:rPr>
              <a:t>TiO₂ Film Dipole Moment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16052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μx = −0.0592 e·Å
μy = +0.9833 e·Å
μz = +2.6240 e·Å   ← dominant
|μ| = 2.8028 e·Å  =  13.463 Debye
Net Q = +0.810 e
Dipole points UP (+z)
Positive Ti5c layer faces the glass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6355080"/>
            <a:ext cx="5760720" cy="32004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637336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Anti-parallel dipoles → macroscopic attraction confirmed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Case Study Results — Ranked Interaction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E5FF"/>
                </a:solidFill>
              </a:rPr>
              <a:t>132 pairs sorted by energy — top 10 attractive + bottom 5 repulsive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1019556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024128"/>
            <a:ext cx="502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Rank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024128"/>
            <a:ext cx="2103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Substrate Atom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44368" y="1024128"/>
            <a:ext cx="2103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Film Atom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1024128"/>
            <a:ext cx="1554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Distance (Å)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6832" y="1024128"/>
            <a:ext cx="1737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Energy (eV)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21624" y="1024128"/>
            <a:ext cx="1645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Type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417320"/>
            <a:ext cx="10195560" cy="347472"/>
          </a:xfrm>
          <a:prstGeom prst="rect">
            <a:avLst/>
          </a:prstGeom>
          <a:solidFill>
            <a:srgbClr val="D4E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435608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1435608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</a:rPr>
              <a:t>O_NBO1_sub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44368" y="1435608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</a:rPr>
              <a:t>Ti5c1_film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1435608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</a:rPr>
              <a:t>1.9000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6832" y="1435608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−2.2243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1624" y="1435608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</a:rPr>
              <a:t>attractive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773936"/>
            <a:ext cx="101955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1792224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1792224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O_NBO3_sub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44368" y="1792224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Ti5c3_film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1792224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2.4473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56832" y="1792224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−0.3509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21624" y="1792224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attractive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130552"/>
            <a:ext cx="10195560" cy="347472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2148840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" y="2148840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H_OH1_sub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44368" y="2148840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Ti5c1_film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2148840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1.4980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56832" y="2148840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−0.1875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21624" y="2148840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attractive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2487168"/>
            <a:ext cx="101955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2505456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" y="2505456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H_OH1_sub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44368" y="2505456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O_br1_film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74920" y="2505456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1.9217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56832" y="2505456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−0.1707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21624" y="2505456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attractive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2843784"/>
            <a:ext cx="10195560" cy="347472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2862072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" y="2862072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Si2_sub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44368" y="2862072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O_br2_film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74920" y="2862072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4.2455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56832" y="2862072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−0.1227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862072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attractive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3200400"/>
            <a:ext cx="101955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" y="3218688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4672" y="3218688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O_NBO1_sub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44368" y="3218688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Ti5c3_film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74920" y="3218688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4.0451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56832" y="3218688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−0.1217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21624" y="3218688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attractive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3557016"/>
            <a:ext cx="10195560" cy="347472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4320" y="3575304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4672" y="3575304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O_BO3_sub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944368" y="3575304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Ti5c3_film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74920" y="3575304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2.9082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56832" y="3575304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−0.1162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21624" y="3575304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attractive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3913632"/>
            <a:ext cx="101955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4320" y="3931920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4672" y="3931920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O_BO1_sub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944368" y="3931920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Ti5c1_film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74920" y="3931920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3.1385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56832" y="3931920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−0.1040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21624" y="3931920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attractive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" y="4270248"/>
            <a:ext cx="10195560" cy="347472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74320" y="4288536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4672" y="4288536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Si2_sub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944368" y="4288536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Ti5c2_film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074920" y="4288536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4.0817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656832" y="4288536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−0.1000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21624" y="4288536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attractive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74320" y="4626864"/>
            <a:ext cx="101955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74320" y="4645151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10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04672" y="4645151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O_BO2_sub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944368" y="4645151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Ti5c2_film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074920" y="4645151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2.8276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656832" y="4645151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−0.0996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21624" y="4645151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attractive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74320" y="5020055"/>
            <a:ext cx="1019556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74320" y="5111495"/>
            <a:ext cx="10195560" cy="347472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74320" y="5129783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128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" y="5129783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O_NBO1_sub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944368" y="5129783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O_ip1_film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074920" y="5129783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2.7321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656832" y="5129783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4C3C"/>
                </a:solidFill>
              </a:rPr>
              <a:t>+0.1594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421624" y="5129783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4C3C"/>
                </a:solidFill>
              </a:rPr>
              <a:t>repulsive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74320" y="5468111"/>
            <a:ext cx="10195560" cy="347472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74320" y="5486399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129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" y="5486399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O_NBO2_sub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944368" y="5486399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Ti5c2_film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074920" y="5486399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2.8320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656832" y="5486399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4C3C"/>
                </a:solidFill>
              </a:rPr>
              <a:t>+0.2178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421624" y="5486399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4C3C"/>
                </a:solidFill>
              </a:rPr>
              <a:t>repulsive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74320" y="5824727"/>
            <a:ext cx="10195560" cy="347472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74320" y="5843015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130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" y="5843015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Si1_sub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944368" y="5843015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Ti5c1_film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074920" y="5843015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3.5000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656832" y="5843015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4C3C"/>
                </a:solidFill>
              </a:rPr>
              <a:t>+0.2451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421624" y="5843015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4C3C"/>
                </a:solidFill>
              </a:rPr>
              <a:t>repulsive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74320" y="6181343"/>
            <a:ext cx="10195560" cy="347472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74320" y="6199631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131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" y="6199631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O_NBO3_sub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944368" y="6199631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O_br3_film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074920" y="6199631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2.8674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656832" y="6199631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4C3C"/>
                </a:solidFill>
              </a:rPr>
              <a:t>+0.2996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421624" y="6199631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4C3C"/>
                </a:solidFill>
              </a:rPr>
              <a:t>repulsive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74320" y="6537959"/>
            <a:ext cx="10195560" cy="347472"/>
          </a:xfrm>
          <a:prstGeom prst="rect">
            <a:avLst/>
          </a:prstGeom>
          <a:solidFill>
            <a:srgbClr val="F5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274320" y="6556247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</a:rPr>
              <a:t>132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" y="6556247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</a:rPr>
              <a:t>O_NBO2_sub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944368" y="6556247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</a:rPr>
              <a:t>O_br2_film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074920" y="6556247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</a:rPr>
              <a:t>2.6729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656832" y="6556247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</a:rPr>
              <a:t>+0.5704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421624" y="6556247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</a:rPr>
              <a:t>repulsive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74320" y="6537960"/>
            <a:ext cx="10195560" cy="274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11480" y="6556248"/>
            <a:ext cx="9875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Total: 132 pairs   |   Attractive: 67 (50.8%)   |   Repulsive: 65 (49.2%)   |   Best: −2.2243 eV   |   Worst: +0.5704 eV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Actionable Findings from the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E5FF"/>
                </a:solidFill>
              </a:rPr>
              <a:t>What the ranked table tells the experimentalist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30000" cy="98755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1371600" cy="9875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09728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Finding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097280"/>
            <a:ext cx="9784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Dominant pair: O_NBO ↔ Ti5c  at  −2.224 eV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1463039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6.3× stronger than rank 2. Focus all surface engineering here.
Action: Increase NBO density on glass by reducing B₂O₃ content
or alkali leaching before deposition.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21408"/>
            <a:ext cx="11430000" cy="98755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21408"/>
            <a:ext cx="1371600" cy="987552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167127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Finding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167127"/>
            <a:ext cx="9784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78A"/>
                </a:solidFill>
              </a:rPr>
              <a:t>Ti5c is 50× more active than Ti6c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532888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Ti5c ranks 1,2,3,6,7,8,9,10.  Ti6c first appears at rank 21 (−0.045 eV).
Action: Deposit TiO₂ under reduced O₂ pressure to maximise Ti5c surface density.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191256"/>
            <a:ext cx="11430000" cy="98755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191256"/>
            <a:ext cx="1371600" cy="9875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3236975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Finding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236975"/>
            <a:ext cx="9784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</a:rPr>
              <a:t>Surface –OH groups HELP adhesion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3602736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Silanol H contributes ranks 3 &amp; 4 (−0.188 + −0.171 = −0.36 eV extra).
Action: Wet-clean glass before deposition. Do not avoid hydroxylation.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261104"/>
            <a:ext cx="11430000" cy="98755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261104"/>
            <a:ext cx="1371600" cy="9875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4306824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Finding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4306824"/>
            <a:ext cx="9784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4C3C"/>
                </a:solidFill>
              </a:rPr>
              <a:t>O–O misregistry is the worst case  (+0.570 eV)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4672584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O_NBO on glass directly above O_br on film → strongly repulsive.
Action: Optimise in-plane rotation of film during deposition.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330952"/>
            <a:ext cx="11430000" cy="98755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5330952"/>
            <a:ext cx="1371600" cy="98755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537667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Finding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5376672"/>
            <a:ext cx="9784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Library reduces DFT workload by 90–95%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4519" y="5742432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132 pairs in &lt;1 sec. Cutoff at 3 Å leaves ~10 high-priority DFT targets.
Action: Run DFT only on top-ranked pairs identified here.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Limitations &amp;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486400" cy="5394960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74C3C"/>
                </a:solidFill>
              </a:rPr>
              <a:t>Current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⚠  Fixed partial charges — no polarizability.
Induction energy (~15–20% of rank-1 pair)
not captured.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50591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⚠  No dispersion / van der Waals (London C₆/r⁶)
term included.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46703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⚠  No charge–charge Coulomb term.
Electrostatic monopole–monopole interaction
not calculated.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42816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⚠  Static model — no thermal motion,
no solvent screening, no dynamics.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138927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⚠  Accuracy depends on quality of input charges.
Force-field charges ≈ good; formal oxidation
states = rough.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005840"/>
            <a:ext cx="5760720" cy="5394960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0515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</a:rPr>
              <a:t>Planned Future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55448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→  Add polarizability (α) per element →
includes induction energy term.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450591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→  Integrate London dispersion (C₆/r⁶)
for van der Waals contribution.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346703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→  GUI / web interface for non-programmers.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242816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→  Extend to liquid–solid interfaces
(solvent screening factor ε).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5138927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→  Benchmark against experimental adhesion
energy database for validation.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603504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→  Auto-suggest deposition conditions based
on ranked output.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11430000" cy="36576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11887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73152" cy="118872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61872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878A"/>
                </a:solidFill>
              </a:rPr>
              <a:t>What was built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9344"/>
            <a:ext cx="10607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 production-ready Python library — 7 modules, pip-installable — that screens
all substrate–film atom-pair interactions using dipole–dipole physics.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87168"/>
            <a:ext cx="11064240" cy="11887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487168"/>
            <a:ext cx="73152" cy="118872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6032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878A"/>
                </a:solidFill>
              </a:rPr>
              <a:t>What it calculates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07791"/>
            <a:ext cx="10607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Group dipole moments, per-atom local dipoles, and pairwise interaction
energies for all N×M atom combinations, ranked from most attractive to most repulsive.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85615"/>
            <a:ext cx="11064240" cy="11887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785615"/>
            <a:ext cx="73152" cy="118872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858768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878A"/>
                </a:solidFill>
              </a:rPr>
              <a:t>What the Glass–TiO₂ test proved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206240"/>
            <a:ext cx="10607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O_NBO ↔ Ti5c is the dominant bonding pair at −2.224 eV — 6.3× stronger than
rank 2. All 6 unit tests pass. Results match DFT literature expectations.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084064"/>
            <a:ext cx="11064240" cy="11887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084064"/>
            <a:ext cx="73152" cy="118872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157216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878A"/>
                </a:solidFill>
              </a:rPr>
              <a:t>Why it matters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504688"/>
            <a:ext cx="10607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Reduces interface screening from 3–5 days of DFT to under 1 second.
Gives experimentalists specific, actionable guidance on surface engineering.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878A"/>
                </a:solidFill>
              </a:rPr>
              <a:t>github.com/shubhamgangwar-01/Surface-Dipole-Library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